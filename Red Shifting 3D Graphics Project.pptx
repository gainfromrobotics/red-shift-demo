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2.png" ContentType="image/png"/>
  <Override PartName="/ppt/media/image14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9.png" ContentType="image/png"/>
  <Override PartName="/ppt/media/image8.png" ContentType="image/png"/>
  <Override PartName="/ppt/media/image5.gif" ContentType="image/gif"/>
  <Override PartName="/ppt/media/image13.png" ContentType="image/png"/>
  <Override PartName="/ppt/media/image4.png" ContentType="image/png"/>
  <Override PartName="/ppt/media/image3.gif" ContentType="image/gif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5B5FDFC-5AB9-4A44-9DAA-CDEE5EDF0F9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8C8219-26C6-448F-939B-51E5851F295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40C36F-9C5A-494B-96EF-E4D791FA8AE1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1F275CB-BDD0-45D1-A7A9-D4E3A65BF8D0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64ADDC5-7F9C-4715-9809-A01B4D1E9D4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1310E3-BB1B-45F5-A960-9D787BB3FAE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4B930F7-1AA7-40C2-945A-5867C96D11A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F88178E-0AF5-4DFA-8772-5CBA37E2A68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F43608F-93E1-4D5F-9C8E-9A9B0FD2A4B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856373E-0811-47DF-AFD4-F931AF4C1AC9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3F634C6-46FC-492F-8565-B3568675C7C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9B55FBE-13C7-4461-9408-CE05B7472F3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 rot="5400000">
            <a:off x="7500960" y="0"/>
            <a:ext cx="1643040" cy="164304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760" y="-7920"/>
            <a:ext cx="5137920" cy="5151960"/>
            <a:chOff x="5760" y="-7920"/>
            <a:chExt cx="5137920" cy="515196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360" y="720"/>
              <a:ext cx="5151960" cy="513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0" y="1142640"/>
              <a:ext cx="3996000" cy="398196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" name="Google Shape;14;p2"/>
            <p:cNvSpPr/>
            <p:nvPr/>
          </p:nvSpPr>
          <p:spPr>
            <a:xfrm rot="16200000">
              <a:off x="1800" y="1080"/>
              <a:ext cx="2298960" cy="22910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" name="Google Shape;15;p2"/>
            <p:cNvSpPr/>
            <p:nvPr/>
          </p:nvSpPr>
          <p:spPr>
            <a:xfrm flipH="1">
              <a:off x="651960" y="588240"/>
              <a:ext cx="2299320" cy="229068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CDE2C0-4070-4CFE-85CF-561DEBB4A6A3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06;p11"/>
          <p:cNvGrpSpPr/>
          <p:nvPr/>
        </p:nvGrpSpPr>
        <p:grpSpPr>
          <a:xfrm>
            <a:off x="4406760" y="-360"/>
            <a:ext cx="4736880" cy="5143320"/>
            <a:chOff x="4406760" y="-360"/>
            <a:chExt cx="4736880" cy="5143320"/>
          </a:xfrm>
        </p:grpSpPr>
        <p:sp>
          <p:nvSpPr>
            <p:cNvPr id="12" name="Google Shape;107;p11"/>
            <p:cNvSpPr/>
            <p:nvPr/>
          </p:nvSpPr>
          <p:spPr>
            <a:xfrm rot="5400000">
              <a:off x="4408200" y="-1800"/>
              <a:ext cx="4733280" cy="473688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" name="Google Shape;108;p11"/>
            <p:cNvSpPr/>
            <p:nvPr/>
          </p:nvSpPr>
          <p:spPr>
            <a:xfrm rot="5400000">
              <a:off x="4841640" y="5040"/>
              <a:ext cx="4297320" cy="428616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" name="Google Shape;109;p11"/>
            <p:cNvSpPr/>
            <p:nvPr/>
          </p:nvSpPr>
          <p:spPr>
            <a:xfrm rot="16200000">
              <a:off x="5618520" y="123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Google Shape;110;p11"/>
            <p:cNvSpPr/>
            <p:nvPr/>
          </p:nvSpPr>
          <p:spPr>
            <a:xfrm flipH="1">
              <a:off x="5849280" y="1443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Google Shape;111;p11"/>
            <p:cNvSpPr/>
            <p:nvPr/>
          </p:nvSpPr>
          <p:spPr>
            <a:xfrm rot="16200000">
              <a:off x="5987160" y="2469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" name="Google Shape;112;p11"/>
            <p:cNvSpPr/>
            <p:nvPr/>
          </p:nvSpPr>
          <p:spPr>
            <a:xfrm flipH="1">
              <a:off x="6221520" y="267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Google Shape;113;p11"/>
            <p:cNvSpPr/>
            <p:nvPr/>
          </p:nvSpPr>
          <p:spPr>
            <a:xfrm rot="16200000">
              <a:off x="6675480" y="186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Google Shape;114;p11"/>
            <p:cNvSpPr/>
            <p:nvPr/>
          </p:nvSpPr>
          <p:spPr>
            <a:xfrm flipH="1">
              <a:off x="6907320" y="2069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Google Shape;115;p11"/>
            <p:cNvSpPr/>
            <p:nvPr/>
          </p:nvSpPr>
          <p:spPr>
            <a:xfrm rot="16200000">
              <a:off x="6861240" y="247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Google Shape;116;p11"/>
            <p:cNvSpPr/>
            <p:nvPr/>
          </p:nvSpPr>
          <p:spPr>
            <a:xfrm flipH="1">
              <a:off x="7964640" y="2692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" name="Google Shape;117;p11"/>
            <p:cNvSpPr/>
            <p:nvPr/>
          </p:nvSpPr>
          <p:spPr>
            <a:xfrm flipH="1">
              <a:off x="8144280" y="3308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Google Shape;118;p11"/>
            <p:cNvSpPr/>
            <p:nvPr/>
          </p:nvSpPr>
          <p:spPr>
            <a:xfrm rot="16200000">
              <a:off x="7047720" y="3095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" name="Google Shape;119;p11"/>
            <p:cNvSpPr/>
            <p:nvPr/>
          </p:nvSpPr>
          <p:spPr>
            <a:xfrm flipH="1">
              <a:off x="7275960" y="330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" name="Google Shape;120;p11"/>
            <p:cNvSpPr/>
            <p:nvPr/>
          </p:nvSpPr>
          <p:spPr>
            <a:xfrm rot="16200000">
              <a:off x="7227360" y="3711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Google Shape;121;p11"/>
            <p:cNvSpPr/>
            <p:nvPr/>
          </p:nvSpPr>
          <p:spPr>
            <a:xfrm flipH="1">
              <a:off x="7461720" y="391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Google Shape;122;p11"/>
            <p:cNvSpPr/>
            <p:nvPr/>
          </p:nvSpPr>
          <p:spPr>
            <a:xfrm rot="16200000">
              <a:off x="8102520" y="3719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" name="Google Shape;123;p11"/>
            <p:cNvSpPr/>
            <p:nvPr/>
          </p:nvSpPr>
          <p:spPr>
            <a:xfrm flipH="1">
              <a:off x="8333640" y="3925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" name="Google Shape;124;p11"/>
            <p:cNvSpPr/>
            <p:nvPr/>
          </p:nvSpPr>
          <p:spPr>
            <a:xfrm rot="16200000">
              <a:off x="8288280" y="4334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0A4ED4-470A-4B32-BF98-4F12AD11196E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ABEC2E-1CF5-4336-919A-D3692E47ED47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Num" idx="4"/>
          </p:nvPr>
        </p:nvSpPr>
        <p:spPr>
          <a:xfrm>
            <a:off x="855684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8CEAE0-D536-4D14-9BE7-A06C639E1A26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20;p3"/>
          <p:cNvGrpSpPr/>
          <p:nvPr/>
        </p:nvGrpSpPr>
        <p:grpSpPr>
          <a:xfrm>
            <a:off x="4406760" y="-360"/>
            <a:ext cx="4736880" cy="5143320"/>
            <a:chOff x="4406760" y="-360"/>
            <a:chExt cx="4736880" cy="5143320"/>
          </a:xfrm>
        </p:grpSpPr>
        <p:sp>
          <p:nvSpPr>
            <p:cNvPr id="34" name="Google Shape;21;p3"/>
            <p:cNvSpPr/>
            <p:nvPr/>
          </p:nvSpPr>
          <p:spPr>
            <a:xfrm rot="5400000">
              <a:off x="4408200" y="-1800"/>
              <a:ext cx="4733280" cy="473688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Google Shape;22;p3"/>
            <p:cNvSpPr/>
            <p:nvPr/>
          </p:nvSpPr>
          <p:spPr>
            <a:xfrm rot="5400000">
              <a:off x="4841640" y="5040"/>
              <a:ext cx="4297320" cy="428616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Google Shape;23;p3"/>
            <p:cNvSpPr/>
            <p:nvPr/>
          </p:nvSpPr>
          <p:spPr>
            <a:xfrm rot="16200000">
              <a:off x="5618520" y="123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Google Shape;24;p3"/>
            <p:cNvSpPr/>
            <p:nvPr/>
          </p:nvSpPr>
          <p:spPr>
            <a:xfrm flipH="1">
              <a:off x="5849280" y="1443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Google Shape;25;p3"/>
            <p:cNvSpPr/>
            <p:nvPr/>
          </p:nvSpPr>
          <p:spPr>
            <a:xfrm rot="16200000">
              <a:off x="5987160" y="2469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Google Shape;26;p3"/>
            <p:cNvSpPr/>
            <p:nvPr/>
          </p:nvSpPr>
          <p:spPr>
            <a:xfrm flipH="1">
              <a:off x="6221520" y="267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Google Shape;27;p3"/>
            <p:cNvSpPr/>
            <p:nvPr/>
          </p:nvSpPr>
          <p:spPr>
            <a:xfrm rot="16200000">
              <a:off x="6675480" y="186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Google Shape;28;p3"/>
            <p:cNvSpPr/>
            <p:nvPr/>
          </p:nvSpPr>
          <p:spPr>
            <a:xfrm flipH="1">
              <a:off x="6907320" y="2069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Google Shape;29;p3"/>
            <p:cNvSpPr/>
            <p:nvPr/>
          </p:nvSpPr>
          <p:spPr>
            <a:xfrm rot="16200000">
              <a:off x="6861240" y="247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" name="Google Shape;30;p3"/>
            <p:cNvSpPr/>
            <p:nvPr/>
          </p:nvSpPr>
          <p:spPr>
            <a:xfrm flipH="1">
              <a:off x="7964640" y="2692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Google Shape;31;p3"/>
            <p:cNvSpPr/>
            <p:nvPr/>
          </p:nvSpPr>
          <p:spPr>
            <a:xfrm flipH="1">
              <a:off x="8144280" y="3308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Google Shape;32;p3"/>
            <p:cNvSpPr/>
            <p:nvPr/>
          </p:nvSpPr>
          <p:spPr>
            <a:xfrm rot="16200000">
              <a:off x="7047720" y="3095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33;p3"/>
            <p:cNvSpPr/>
            <p:nvPr/>
          </p:nvSpPr>
          <p:spPr>
            <a:xfrm flipH="1">
              <a:off x="7275960" y="330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Google Shape;34;p3"/>
            <p:cNvSpPr/>
            <p:nvPr/>
          </p:nvSpPr>
          <p:spPr>
            <a:xfrm rot="16200000">
              <a:off x="7227360" y="3711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Google Shape;35;p3"/>
            <p:cNvSpPr/>
            <p:nvPr/>
          </p:nvSpPr>
          <p:spPr>
            <a:xfrm flipH="1">
              <a:off x="7461720" y="391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Google Shape;36;p3"/>
            <p:cNvSpPr/>
            <p:nvPr/>
          </p:nvSpPr>
          <p:spPr>
            <a:xfrm rot="16200000">
              <a:off x="8102520" y="3719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Google Shape;37;p3"/>
            <p:cNvSpPr/>
            <p:nvPr/>
          </p:nvSpPr>
          <p:spPr>
            <a:xfrm flipH="1">
              <a:off x="8333640" y="3925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" name="Google Shape;38;p3"/>
            <p:cNvSpPr/>
            <p:nvPr/>
          </p:nvSpPr>
          <p:spPr>
            <a:xfrm rot="16200000">
              <a:off x="8288280" y="4334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9D1663-CAF6-4106-A9DA-63D4ABD39FE8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42;p4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56" name="Google Shape;43;p4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" name="Google Shape;44;p4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AA55BA-A8D3-4F33-8A49-5E489E8F19BD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49;p5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64" name="Google Shape;50;p5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" name="Google Shape;51;p5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3A7B7C-5448-4669-89D2-C3D26170BBB3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57;p6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74" name="Google Shape;58;p6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" name="Google Shape;59;p6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07EA70-CD07-4BCD-926B-E85A845AE4EF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63;p7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81" name="Google Shape;64;p7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" name="Google Shape;65;p7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EF2399-1584-4F3A-B0A1-57D282425C2F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70;p8"/>
          <p:cNvGrpSpPr/>
          <p:nvPr/>
        </p:nvGrpSpPr>
        <p:grpSpPr>
          <a:xfrm>
            <a:off x="4406760" y="-360"/>
            <a:ext cx="4736880" cy="5144040"/>
            <a:chOff x="4406760" y="-360"/>
            <a:chExt cx="4736880" cy="5144040"/>
          </a:xfrm>
        </p:grpSpPr>
        <p:sp>
          <p:nvSpPr>
            <p:cNvPr id="85" name="Google Shape;71;p8"/>
            <p:cNvSpPr/>
            <p:nvPr/>
          </p:nvSpPr>
          <p:spPr>
            <a:xfrm rot="5400000">
              <a:off x="4407840" y="-1440"/>
              <a:ext cx="4734000" cy="473688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Google Shape;72;p8"/>
            <p:cNvSpPr/>
            <p:nvPr/>
          </p:nvSpPr>
          <p:spPr>
            <a:xfrm rot="5400000">
              <a:off x="4841280" y="5400"/>
              <a:ext cx="4298040" cy="428616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Google Shape;73;p8"/>
            <p:cNvSpPr/>
            <p:nvPr/>
          </p:nvSpPr>
          <p:spPr>
            <a:xfrm rot="16200000">
              <a:off x="5618520" y="12373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Google Shape;74;p8"/>
            <p:cNvSpPr/>
            <p:nvPr/>
          </p:nvSpPr>
          <p:spPr>
            <a:xfrm flipH="1">
              <a:off x="5849280" y="1443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75;p8"/>
            <p:cNvSpPr/>
            <p:nvPr/>
          </p:nvSpPr>
          <p:spPr>
            <a:xfrm rot="16200000">
              <a:off x="5987160" y="24703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Google Shape;76;p8"/>
            <p:cNvSpPr/>
            <p:nvPr/>
          </p:nvSpPr>
          <p:spPr>
            <a:xfrm flipH="1">
              <a:off x="6221520" y="26773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Google Shape;77;p8"/>
            <p:cNvSpPr/>
            <p:nvPr/>
          </p:nvSpPr>
          <p:spPr>
            <a:xfrm rot="16200000">
              <a:off x="6675480" y="18630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Google Shape;78;p8"/>
            <p:cNvSpPr/>
            <p:nvPr/>
          </p:nvSpPr>
          <p:spPr>
            <a:xfrm flipH="1">
              <a:off x="6907320" y="2069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Google Shape;79;p8"/>
            <p:cNvSpPr/>
            <p:nvPr/>
          </p:nvSpPr>
          <p:spPr>
            <a:xfrm rot="16200000">
              <a:off x="6861240" y="247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Google Shape;80;p8"/>
            <p:cNvSpPr/>
            <p:nvPr/>
          </p:nvSpPr>
          <p:spPr>
            <a:xfrm flipH="1">
              <a:off x="7964640" y="2693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Google Shape;81;p8"/>
            <p:cNvSpPr/>
            <p:nvPr/>
          </p:nvSpPr>
          <p:spPr>
            <a:xfrm flipH="1">
              <a:off x="8144280" y="33091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Google Shape;82;p8"/>
            <p:cNvSpPr/>
            <p:nvPr/>
          </p:nvSpPr>
          <p:spPr>
            <a:xfrm rot="16200000">
              <a:off x="7047720" y="30960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Google Shape;83;p8"/>
            <p:cNvSpPr/>
            <p:nvPr/>
          </p:nvSpPr>
          <p:spPr>
            <a:xfrm flipH="1">
              <a:off x="7275960" y="330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Google Shape;84;p8"/>
            <p:cNvSpPr/>
            <p:nvPr/>
          </p:nvSpPr>
          <p:spPr>
            <a:xfrm rot="16200000">
              <a:off x="7227360" y="3711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" name="Google Shape;85;p8"/>
            <p:cNvSpPr/>
            <p:nvPr/>
          </p:nvSpPr>
          <p:spPr>
            <a:xfrm flipH="1">
              <a:off x="7461720" y="391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Google Shape;86;p8"/>
            <p:cNvSpPr/>
            <p:nvPr/>
          </p:nvSpPr>
          <p:spPr>
            <a:xfrm rot="16200000">
              <a:off x="8102520" y="37195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Google Shape;87;p8"/>
            <p:cNvSpPr/>
            <p:nvPr/>
          </p:nvSpPr>
          <p:spPr>
            <a:xfrm flipH="1">
              <a:off x="8333640" y="3926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Google Shape;88;p8"/>
            <p:cNvSpPr/>
            <p:nvPr/>
          </p:nvSpPr>
          <p:spPr>
            <a:xfrm rot="16200000">
              <a:off x="8288280" y="433548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2F433C-8C4D-4300-8CA1-CE257794C2AE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92;p9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105" name="Google Shape;93;p9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Google Shape;94;p9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3CA388-63B4-466C-9578-C8440DF3B2F7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0;p10"/>
          <p:cNvGrpSpPr/>
          <p:nvPr/>
        </p:nvGrpSpPr>
        <p:grpSpPr>
          <a:xfrm>
            <a:off x="0" y="4129560"/>
            <a:ext cx="697680" cy="682920"/>
            <a:chOff x="0" y="4129560"/>
            <a:chExt cx="697680" cy="682920"/>
          </a:xfrm>
        </p:grpSpPr>
        <p:sp>
          <p:nvSpPr>
            <p:cNvPr id="109" name="Google Shape;101;p10"/>
            <p:cNvSpPr/>
            <p:nvPr/>
          </p:nvSpPr>
          <p:spPr>
            <a:xfrm rot="16200000">
              <a:off x="0" y="4129560"/>
              <a:ext cx="543960" cy="5439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Google Shape;102;p10"/>
            <p:cNvSpPr/>
            <p:nvPr/>
          </p:nvSpPr>
          <p:spPr>
            <a:xfrm flipH="1">
              <a:off x="153360" y="4268520"/>
              <a:ext cx="543960" cy="5439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E3CE57-6A2A-424F-833E-E88B004D77A4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gif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6960" cy="157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chemeClr val="lt1"/>
                </a:solidFill>
                <a:latin typeface="Montserrat"/>
                <a:ea typeface="Montserrat"/>
              </a:rPr>
              <a:t>Red Shifting 3D Graphics Project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5083920" y="3925080"/>
            <a:ext cx="3470040" cy="50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 lnSpcReduction="10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My first REAL presentation for presentation night!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7AB155-92B1-487E-A1CE-EB8BA8A1D5C5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1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What is Red Shifting?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5E58F8-7FD2-44AF-A95B-472061CA81AA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1104120" y="4291920"/>
            <a:ext cx="6935400" cy="52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In our universe, galaxies and stars moving away from us appear redder. Why?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Google Shape;152;p16" descr=""/>
          <p:cNvPicPr/>
          <p:nvPr/>
        </p:nvPicPr>
        <p:blipFill>
          <a:blip r:embed="rId1"/>
          <a:stretch/>
        </p:blipFill>
        <p:spPr>
          <a:xfrm>
            <a:off x="1714320" y="254160"/>
            <a:ext cx="5714280" cy="3999960"/>
          </a:xfrm>
          <a:prstGeom prst="rect">
            <a:avLst/>
          </a:prstGeom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E4C06F-EF4D-46E7-8265-4DEF9EF2B4CB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3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Light as a Wave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Google Shape;159;p17" descr=""/>
          <p:cNvPicPr/>
          <p:nvPr/>
        </p:nvPicPr>
        <p:blipFill>
          <a:blip r:embed="rId1"/>
          <a:srcRect l="4494" t="11344" r="4339" b="10074"/>
          <a:stretch/>
        </p:blipFill>
        <p:spPr>
          <a:xfrm>
            <a:off x="347400" y="1828440"/>
            <a:ext cx="8448480" cy="2798640"/>
          </a:xfrm>
          <a:prstGeom prst="rect">
            <a:avLst/>
          </a:prstGeom>
          <a:ln w="0">
            <a:noFill/>
          </a:ln>
        </p:spPr>
      </p:pic>
      <p:sp>
        <p:nvSpPr>
          <p:cNvPr id="124" name="PlaceHolder 2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698552-B588-4719-A5FE-7CC9679424D6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The Doppler Effect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Google Shape;166;p18" descr=""/>
          <p:cNvPicPr/>
          <p:nvPr/>
        </p:nvPicPr>
        <p:blipFill>
          <a:blip r:embed="rId1"/>
          <a:stretch/>
        </p:blipFill>
        <p:spPr>
          <a:xfrm>
            <a:off x="1632960" y="1307880"/>
            <a:ext cx="5877000" cy="3290760"/>
          </a:xfrm>
          <a:prstGeom prst="rect">
            <a:avLst/>
          </a:prstGeom>
          <a:ln w="0">
            <a:noFill/>
          </a:ln>
        </p:spPr>
      </p:pic>
      <p:sp>
        <p:nvSpPr>
          <p:cNvPr id="127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FE961D-20A7-4F90-B5E2-BF6D79FCC196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5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Doppler Effect on Light Waves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" name="Google Shape;173;p19" descr=""/>
          <p:cNvPicPr/>
          <p:nvPr/>
        </p:nvPicPr>
        <p:blipFill>
          <a:blip r:embed="rId1"/>
          <a:srcRect l="9744" t="3517" r="57820" b="2991"/>
          <a:stretch/>
        </p:blipFill>
        <p:spPr>
          <a:xfrm rot="5400000">
            <a:off x="2041200" y="1780200"/>
            <a:ext cx="1899720" cy="3386160"/>
          </a:xfrm>
          <a:prstGeom prst="rect">
            <a:avLst/>
          </a:prstGeom>
          <a:ln w="0">
            <a:noFill/>
          </a:ln>
        </p:spPr>
      </p:pic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02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As an object emitting light moves away from our eyes, the light wave stretches, moving more toward red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933080" y="1567440"/>
            <a:ext cx="3402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Graphic of light waves expanding and contracting in a two body system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Google Shape;176;p19" descr=""/>
          <p:cNvPicPr/>
          <p:nvPr/>
        </p:nvPicPr>
        <p:blipFill>
          <a:blip r:embed="rId2"/>
          <a:srcRect l="0" t="2484" r="0" b="2484"/>
          <a:stretch/>
        </p:blipFill>
        <p:spPr>
          <a:xfrm>
            <a:off x="4836600" y="2523600"/>
            <a:ext cx="3498840" cy="1899720"/>
          </a:xfrm>
          <a:prstGeom prst="rect">
            <a:avLst/>
          </a:prstGeom>
          <a:ln w="0">
            <a:noFill/>
          </a:ln>
        </p:spPr>
      </p:pic>
      <p:sp>
        <p:nvSpPr>
          <p:cNvPr id="133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30D4E4-47D1-4184-9398-A384F12D6719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6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Perceiving Color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B12411-60FF-44B1-B1BA-D6103B09D696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7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How the Human Eye Perceives Color - Cones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02360" cy="29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1040">
              <a:lnSpc>
                <a:spcPct val="115000"/>
              </a:lnSpc>
              <a:buClr>
                <a:srgbClr val="ffffff"/>
              </a:buClr>
              <a:buFont typeface="Lato"/>
              <a:buChar char="-"/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Our eyes comprise of cones and rods. Rods perceive light intensity, Cones perceive color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ffffff"/>
              </a:buClr>
              <a:buFont typeface="Lato"/>
              <a:buChar char="-"/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Three types of Cones: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81aaff"/>
              </a:buClr>
              <a:buFont typeface="Lato"/>
              <a:buChar char="-"/>
            </a:pPr>
            <a:r>
              <a:rPr b="0" lang="en" sz="1300" spc="-1" strike="noStrike">
                <a:solidFill>
                  <a:srgbClr val="81aaff"/>
                </a:solidFill>
                <a:latin typeface="Lato"/>
                <a:ea typeface="Lato"/>
              </a:rPr>
              <a:t>S Cones (Sensitive to small wavelengths, such as blue)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61ff4f"/>
              </a:buClr>
              <a:buFont typeface="Lato"/>
              <a:buChar char="-"/>
            </a:pPr>
            <a:r>
              <a:rPr b="0" lang="en" sz="1300" spc="-1" strike="noStrike">
                <a:solidFill>
                  <a:srgbClr val="61ff4f"/>
                </a:solidFill>
                <a:latin typeface="Lato"/>
                <a:ea typeface="Lato"/>
              </a:rPr>
              <a:t>M Cones (Sensitive to medium wavelengths, such as green)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ff6a6a"/>
              </a:buClr>
              <a:buFont typeface="Lato"/>
              <a:buChar char="-"/>
            </a:pPr>
            <a:r>
              <a:rPr b="0" lang="en" sz="1300" spc="-1" strike="noStrike">
                <a:solidFill>
                  <a:srgbClr val="ff6a6a"/>
                </a:solidFill>
                <a:latin typeface="Lato"/>
                <a:ea typeface="Lato"/>
              </a:rPr>
              <a:t>L Cones (Sensitive to large wavelengths, such as red)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C62A0A-B26C-4626-95AF-CD78BBCCFDAA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8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9" name="Google Shape;191;p21" descr=""/>
          <p:cNvPicPr/>
          <p:nvPr/>
        </p:nvPicPr>
        <p:blipFill>
          <a:blip r:embed="rId1"/>
          <a:stretch/>
        </p:blipFill>
        <p:spPr>
          <a:xfrm>
            <a:off x="4933080" y="1567440"/>
            <a:ext cx="3402360" cy="223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96;p22"/>
          <p:cNvSpPr/>
          <p:nvPr/>
        </p:nvSpPr>
        <p:spPr>
          <a:xfrm>
            <a:off x="2040840" y="1590480"/>
            <a:ext cx="5578560" cy="317268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How the Human Eye Perceives Color - Cones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2" name="Google Shape;198;p22" descr=""/>
          <p:cNvPicPr/>
          <p:nvPr/>
        </p:nvPicPr>
        <p:blipFill>
          <a:blip r:embed="rId1"/>
          <a:stretch/>
        </p:blipFill>
        <p:spPr>
          <a:xfrm>
            <a:off x="2013480" y="1474560"/>
            <a:ext cx="5578560" cy="3390480"/>
          </a:xfrm>
          <a:prstGeom prst="rect">
            <a:avLst/>
          </a:prstGeom>
          <a:ln w="0">
            <a:noFill/>
          </a:ln>
        </p:spPr>
      </p:pic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308600" y="950040"/>
            <a:ext cx="7038360" cy="68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Given a light wave with a certain wavelength. The following graph describes how sensitive our S, M and L cones are to that certain wavelength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85FD3F-EE59-44B3-8739-6DFC8976AEC9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9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205;p23"/>
          <p:cNvSpPr/>
          <p:nvPr/>
        </p:nvSpPr>
        <p:spPr>
          <a:xfrm>
            <a:off x="5729760" y="1859400"/>
            <a:ext cx="1946880" cy="17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9600" spc="-1" strike="noStrike">
                <a:solidFill>
                  <a:schemeClr val="lt1"/>
                </a:solidFill>
                <a:latin typeface="Lato"/>
                <a:ea typeface="Lato"/>
              </a:rPr>
              <a:t>?</a:t>
            </a:r>
            <a:endParaRPr b="0" lang="en-US" sz="9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Color Matching - One Wavelength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207;p23"/>
          <p:cNvSpPr/>
          <p:nvPr/>
        </p:nvSpPr>
        <p:spPr>
          <a:xfrm>
            <a:off x="1312560" y="1859400"/>
            <a:ext cx="3106800" cy="176688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Google Shape;208;p23" descr=""/>
          <p:cNvPicPr/>
          <p:nvPr/>
        </p:nvPicPr>
        <p:blipFill>
          <a:blip r:embed="rId1"/>
          <a:stretch/>
        </p:blipFill>
        <p:spPr>
          <a:xfrm>
            <a:off x="1297440" y="1794960"/>
            <a:ext cx="3106800" cy="1887840"/>
          </a:xfrm>
          <a:prstGeom prst="rect">
            <a:avLst/>
          </a:prstGeom>
          <a:ln w="0">
            <a:noFill/>
          </a:ln>
        </p:spPr>
      </p:pic>
      <p:cxnSp>
        <p:nvCxnSpPr>
          <p:cNvPr id="149" name="Google Shape;209;p23"/>
          <p:cNvCxnSpPr/>
          <p:nvPr/>
        </p:nvCxnSpPr>
        <p:spPr>
          <a:xfrm>
            <a:off x="2211840" y="2110320"/>
            <a:ext cx="720" cy="122868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  <a:headEnd len="med" type="oval" w="med"/>
          </a:ln>
        </p:spPr>
      </p:cxnSp>
      <p:cxnSp>
        <p:nvCxnSpPr>
          <p:cNvPr id="150" name="Google Shape;210;p23"/>
          <p:cNvCxnSpPr/>
          <p:nvPr/>
        </p:nvCxnSpPr>
        <p:spPr>
          <a:xfrm>
            <a:off x="4607280" y="2739240"/>
            <a:ext cx="597960" cy="720"/>
          </a:xfrm>
          <a:prstGeom prst="straightConnector1">
            <a:avLst/>
          </a:prstGeom>
          <a:ln w="9525">
            <a:solidFill>
              <a:srgbClr val="d9d9d9"/>
            </a:solidFill>
            <a:round/>
            <a:tailEnd len="med" type="triangle" w="med"/>
          </a:ln>
        </p:spPr>
      </p:cxnSp>
      <p:sp>
        <p:nvSpPr>
          <p:cNvPr id="151" name="Google Shape;211;p23"/>
          <p:cNvSpPr/>
          <p:nvPr/>
        </p:nvSpPr>
        <p:spPr>
          <a:xfrm>
            <a:off x="5862600" y="1902600"/>
            <a:ext cx="1681200" cy="1681200"/>
          </a:xfrm>
          <a:prstGeom prst="ellipse">
            <a:avLst/>
          </a:prstGeom>
          <a:solidFill>
            <a:srgbClr val="86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C77590-C4CC-4B56-803B-65D53B70F230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10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217;p24"/>
          <p:cNvSpPr/>
          <p:nvPr/>
        </p:nvSpPr>
        <p:spPr>
          <a:xfrm>
            <a:off x="5729760" y="1859400"/>
            <a:ext cx="1946880" cy="17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9600" spc="-1" strike="noStrike">
                <a:solidFill>
                  <a:schemeClr val="lt1"/>
                </a:solidFill>
                <a:latin typeface="Lato"/>
                <a:ea typeface="Lato"/>
              </a:rPr>
              <a:t>?</a:t>
            </a:r>
            <a:endParaRPr b="0" lang="en-US" sz="9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Color Matching - Two Wavelengths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219;p24"/>
          <p:cNvSpPr/>
          <p:nvPr/>
        </p:nvSpPr>
        <p:spPr>
          <a:xfrm>
            <a:off x="1312560" y="1859400"/>
            <a:ext cx="3106800" cy="176688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Google Shape;220;p24" descr=""/>
          <p:cNvPicPr/>
          <p:nvPr/>
        </p:nvPicPr>
        <p:blipFill>
          <a:blip r:embed="rId1"/>
          <a:stretch/>
        </p:blipFill>
        <p:spPr>
          <a:xfrm>
            <a:off x="1297440" y="1794960"/>
            <a:ext cx="3106800" cy="1887840"/>
          </a:xfrm>
          <a:prstGeom prst="rect">
            <a:avLst/>
          </a:prstGeom>
          <a:ln w="0">
            <a:noFill/>
          </a:ln>
        </p:spPr>
      </p:pic>
      <p:cxnSp>
        <p:nvCxnSpPr>
          <p:cNvPr id="157" name="Google Shape;221;p24"/>
          <p:cNvCxnSpPr/>
          <p:nvPr/>
        </p:nvCxnSpPr>
        <p:spPr>
          <a:xfrm>
            <a:off x="2551320" y="2347560"/>
            <a:ext cx="720" cy="100512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  <a:headEnd len="med" type="oval" w="med"/>
          </a:ln>
        </p:spPr>
      </p:cxnSp>
      <p:cxnSp>
        <p:nvCxnSpPr>
          <p:cNvPr id="158" name="Google Shape;222;p24"/>
          <p:cNvCxnSpPr/>
          <p:nvPr/>
        </p:nvCxnSpPr>
        <p:spPr>
          <a:xfrm>
            <a:off x="4607280" y="2739240"/>
            <a:ext cx="597960" cy="720"/>
          </a:xfrm>
          <a:prstGeom prst="straightConnector1">
            <a:avLst/>
          </a:prstGeom>
          <a:ln w="9525">
            <a:solidFill>
              <a:srgbClr val="d9d9d9"/>
            </a:solidFill>
            <a:round/>
            <a:tailEnd len="med" type="triangle" w="med"/>
          </a:ln>
        </p:spPr>
      </p:cxnSp>
      <p:sp>
        <p:nvSpPr>
          <p:cNvPr id="159" name="Google Shape;223;p24"/>
          <p:cNvSpPr/>
          <p:nvPr/>
        </p:nvSpPr>
        <p:spPr>
          <a:xfrm>
            <a:off x="5862600" y="1902600"/>
            <a:ext cx="1681200" cy="1681200"/>
          </a:xfrm>
          <a:prstGeom prst="ellipse">
            <a:avLst/>
          </a:prstGeom>
          <a:solidFill>
            <a:srgbClr val="c85a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0" name="Google Shape;224;p24"/>
          <p:cNvCxnSpPr/>
          <p:nvPr/>
        </p:nvCxnSpPr>
        <p:spPr>
          <a:xfrm>
            <a:off x="3273480" y="2347560"/>
            <a:ext cx="720" cy="100512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  <a:headEnd len="med" type="oval" w="med"/>
          </a:ln>
        </p:spPr>
      </p:cxnSp>
      <p:sp>
        <p:nvSpPr>
          <p:cNvPr id="161" name="PlaceHolder 2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804F34-B3F4-41DB-A416-C6E2F8ABE12E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11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230;p25"/>
          <p:cNvSpPr/>
          <p:nvPr/>
        </p:nvSpPr>
        <p:spPr>
          <a:xfrm>
            <a:off x="5729760" y="1859400"/>
            <a:ext cx="1946880" cy="17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9600" spc="-1" strike="noStrike">
                <a:solidFill>
                  <a:schemeClr val="lt1"/>
                </a:solidFill>
                <a:latin typeface="Lato"/>
                <a:ea typeface="Lato"/>
              </a:rPr>
              <a:t>?</a:t>
            </a:r>
            <a:endParaRPr b="0" lang="en-US" sz="9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Color Matching - Three Wavelengths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232;p25"/>
          <p:cNvSpPr/>
          <p:nvPr/>
        </p:nvSpPr>
        <p:spPr>
          <a:xfrm>
            <a:off x="1312560" y="1859400"/>
            <a:ext cx="3106800" cy="176688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Google Shape;233;p25" descr=""/>
          <p:cNvPicPr/>
          <p:nvPr/>
        </p:nvPicPr>
        <p:blipFill>
          <a:blip r:embed="rId1"/>
          <a:stretch/>
        </p:blipFill>
        <p:spPr>
          <a:xfrm>
            <a:off x="1297440" y="1794960"/>
            <a:ext cx="3106800" cy="1887840"/>
          </a:xfrm>
          <a:prstGeom prst="rect">
            <a:avLst/>
          </a:prstGeom>
          <a:ln w="0">
            <a:noFill/>
          </a:ln>
        </p:spPr>
      </p:pic>
      <p:cxnSp>
        <p:nvCxnSpPr>
          <p:cNvPr id="166" name="Google Shape;234;p25"/>
          <p:cNvCxnSpPr/>
          <p:nvPr/>
        </p:nvCxnSpPr>
        <p:spPr>
          <a:xfrm>
            <a:off x="2965320" y="2374920"/>
            <a:ext cx="720" cy="98064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  <a:headEnd len="med" type="oval" w="med"/>
          </a:ln>
        </p:spPr>
      </p:cxnSp>
      <p:cxnSp>
        <p:nvCxnSpPr>
          <p:cNvPr id="167" name="Google Shape;235;p25"/>
          <p:cNvCxnSpPr/>
          <p:nvPr/>
        </p:nvCxnSpPr>
        <p:spPr>
          <a:xfrm>
            <a:off x="4607280" y="2739240"/>
            <a:ext cx="597960" cy="720"/>
          </a:xfrm>
          <a:prstGeom prst="straightConnector1">
            <a:avLst/>
          </a:prstGeom>
          <a:ln w="9525">
            <a:solidFill>
              <a:srgbClr val="d9d9d9"/>
            </a:solidFill>
            <a:round/>
            <a:tailEnd len="med" type="triangle" w="med"/>
          </a:ln>
        </p:spPr>
      </p:cxnSp>
      <p:sp>
        <p:nvSpPr>
          <p:cNvPr id="168" name="Google Shape;236;p25"/>
          <p:cNvSpPr/>
          <p:nvPr/>
        </p:nvSpPr>
        <p:spPr>
          <a:xfrm>
            <a:off x="5862600" y="1902600"/>
            <a:ext cx="1681200" cy="1681200"/>
          </a:xfrm>
          <a:prstGeom prst="ellipse">
            <a:avLst/>
          </a:prstGeom>
          <a:solidFill>
            <a:srgbClr val="78e6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9" name="Google Shape;237;p25"/>
          <p:cNvCxnSpPr/>
          <p:nvPr/>
        </p:nvCxnSpPr>
        <p:spPr>
          <a:xfrm>
            <a:off x="3619800" y="2490120"/>
            <a:ext cx="720" cy="86940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  <a:headEnd len="med" type="oval" w="med"/>
          </a:ln>
        </p:spPr>
      </p:cxnSp>
      <p:cxnSp>
        <p:nvCxnSpPr>
          <p:cNvPr id="170" name="Google Shape;238;p25"/>
          <p:cNvCxnSpPr/>
          <p:nvPr/>
        </p:nvCxnSpPr>
        <p:spPr>
          <a:xfrm>
            <a:off x="2140560" y="2374920"/>
            <a:ext cx="720" cy="98064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  <a:headEnd len="med" type="oval" w="med"/>
          </a:ln>
        </p:spPr>
      </p:cxnSp>
      <p:sp>
        <p:nvSpPr>
          <p:cNvPr id="171" name="PlaceHolder 2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43573B-925F-471A-A23A-F12C00313C38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12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Color Matching - INFINITE WAVELENGTHS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245;p26"/>
          <p:cNvSpPr/>
          <p:nvPr/>
        </p:nvSpPr>
        <p:spPr>
          <a:xfrm>
            <a:off x="1293480" y="1372320"/>
            <a:ext cx="3106800" cy="176688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Google Shape;246;p26" descr=""/>
          <p:cNvPicPr/>
          <p:nvPr/>
        </p:nvPicPr>
        <p:blipFill>
          <a:blip r:embed="rId1"/>
          <a:stretch/>
        </p:blipFill>
        <p:spPr>
          <a:xfrm>
            <a:off x="1278360" y="1307880"/>
            <a:ext cx="3106800" cy="1887840"/>
          </a:xfrm>
          <a:prstGeom prst="rect">
            <a:avLst/>
          </a:prstGeom>
          <a:ln w="0">
            <a:noFill/>
          </a:ln>
        </p:spPr>
      </p:pic>
      <p:sp>
        <p:nvSpPr>
          <p:cNvPr id="175" name="Google Shape;247;p26"/>
          <p:cNvSpPr/>
          <p:nvPr/>
        </p:nvSpPr>
        <p:spPr>
          <a:xfrm>
            <a:off x="1589040" y="1765800"/>
            <a:ext cx="2652480" cy="1105560"/>
          </a:xfrm>
          <a:custGeom>
            <a:avLst/>
            <a:gdLst>
              <a:gd name="textAreaLeft" fmla="*/ 0 w 2652480"/>
              <a:gd name="textAreaRight" fmla="*/ 2653200 w 2652480"/>
              <a:gd name="textAreaTop" fmla="*/ 0 h 1105560"/>
              <a:gd name="textAreaBottom" fmla="*/ 1106280 h 1105560"/>
            </a:gdLst>
            <a:ahLst/>
            <a:rect l="textAreaLeft" t="textAreaTop" r="textAreaRight" b="textAreaBottom"/>
            <a:pathLst>
              <a:path w="106127" h="44244">
                <a:moveTo>
                  <a:pt x="0" y="44244"/>
                </a:moveTo>
                <a:cubicBezTo>
                  <a:pt x="1312" y="43249"/>
                  <a:pt x="6016" y="41666"/>
                  <a:pt x="7871" y="38273"/>
                </a:cubicBezTo>
                <a:cubicBezTo>
                  <a:pt x="9726" y="34880"/>
                  <a:pt x="10359" y="29768"/>
                  <a:pt x="11128" y="23887"/>
                </a:cubicBezTo>
                <a:cubicBezTo>
                  <a:pt x="11897" y="18006"/>
                  <a:pt x="11807" y="6788"/>
                  <a:pt x="12485" y="2988"/>
                </a:cubicBezTo>
                <a:cubicBezTo>
                  <a:pt x="13164" y="-812"/>
                  <a:pt x="14294" y="-314"/>
                  <a:pt x="15199" y="1088"/>
                </a:cubicBezTo>
                <a:cubicBezTo>
                  <a:pt x="16104" y="2490"/>
                  <a:pt x="16240" y="6697"/>
                  <a:pt x="17914" y="11402"/>
                </a:cubicBezTo>
                <a:cubicBezTo>
                  <a:pt x="19588" y="16107"/>
                  <a:pt x="21668" y="25561"/>
                  <a:pt x="25242" y="29316"/>
                </a:cubicBezTo>
                <a:cubicBezTo>
                  <a:pt x="28816" y="33071"/>
                  <a:pt x="34606" y="34111"/>
                  <a:pt x="39356" y="33930"/>
                </a:cubicBezTo>
                <a:cubicBezTo>
                  <a:pt x="44106" y="33749"/>
                  <a:pt x="48811" y="30673"/>
                  <a:pt x="53742" y="28230"/>
                </a:cubicBezTo>
                <a:cubicBezTo>
                  <a:pt x="58673" y="25787"/>
                  <a:pt x="64192" y="20675"/>
                  <a:pt x="68942" y="19273"/>
                </a:cubicBezTo>
                <a:cubicBezTo>
                  <a:pt x="73692" y="17871"/>
                  <a:pt x="78984" y="18549"/>
                  <a:pt x="82241" y="19816"/>
                </a:cubicBezTo>
                <a:cubicBezTo>
                  <a:pt x="85498" y="21083"/>
                  <a:pt x="86539" y="24068"/>
                  <a:pt x="88484" y="26873"/>
                </a:cubicBezTo>
                <a:cubicBezTo>
                  <a:pt x="90429" y="29678"/>
                  <a:pt x="92194" y="34292"/>
                  <a:pt x="93913" y="36644"/>
                </a:cubicBezTo>
                <a:cubicBezTo>
                  <a:pt x="95632" y="38996"/>
                  <a:pt x="96762" y="39856"/>
                  <a:pt x="98798" y="40987"/>
                </a:cubicBezTo>
                <a:cubicBezTo>
                  <a:pt x="100834" y="42118"/>
                  <a:pt x="104906" y="43023"/>
                  <a:pt x="106127" y="43430"/>
                </a:cubicBezTo>
              </a:path>
            </a:pathLst>
          </a:custGeom>
          <a:solidFill>
            <a:srgbClr val="656464">
              <a:alpha val="37000"/>
            </a:srgbClr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48;p26"/>
          <p:cNvSpPr/>
          <p:nvPr/>
        </p:nvSpPr>
        <p:spPr>
          <a:xfrm>
            <a:off x="5029200" y="1709640"/>
            <a:ext cx="3513240" cy="12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5200" spc="-1" strike="noStrike">
                <a:solidFill>
                  <a:schemeClr val="lt1"/>
                </a:solidFill>
                <a:latin typeface="Lato"/>
                <a:ea typeface="Lato"/>
              </a:rPr>
              <a:t>¯\_(</a:t>
            </a:r>
            <a:r>
              <a:rPr b="0" lang="zh-CN" sz="5200" spc="-1" strike="noStrike">
                <a:solidFill>
                  <a:schemeClr val="lt1"/>
                </a:solidFill>
                <a:latin typeface="Lato"/>
                <a:ea typeface="Lato"/>
              </a:rPr>
              <a:t>ツ</a:t>
            </a:r>
            <a:r>
              <a:rPr b="0" lang="en" sz="5200" spc="-1" strike="noStrike">
                <a:solidFill>
                  <a:schemeClr val="lt1"/>
                </a:solidFill>
                <a:latin typeface="Lato"/>
                <a:ea typeface="Lato"/>
              </a:rPr>
              <a:t>)_/¯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7" name="Google Shape;249;p26"/>
          <p:cNvCxnSpPr/>
          <p:nvPr/>
        </p:nvCxnSpPr>
        <p:spPr>
          <a:xfrm>
            <a:off x="4587840" y="2252160"/>
            <a:ext cx="598320" cy="720"/>
          </a:xfrm>
          <a:prstGeom prst="straightConnector1">
            <a:avLst/>
          </a:prstGeom>
          <a:ln w="9525">
            <a:solidFill>
              <a:srgbClr val="d9d9d9"/>
            </a:solidFill>
            <a:round/>
            <a:tailEnd len="med" type="triangle" w="med"/>
          </a:ln>
        </p:spPr>
      </p:cxnSp>
      <p:sp>
        <p:nvSpPr>
          <p:cNvPr id="178" name="Google Shape;250;p26"/>
          <p:cNvSpPr/>
          <p:nvPr/>
        </p:nvSpPr>
        <p:spPr>
          <a:xfrm>
            <a:off x="1297440" y="3379320"/>
            <a:ext cx="690696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11040">
              <a:lnSpc>
                <a:spcPct val="100000"/>
              </a:lnSpc>
              <a:buClr>
                <a:srgbClr val="ffffff"/>
              </a:buClr>
              <a:buFont typeface="Lato"/>
              <a:buChar char="-"/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Objects that emit light more oftenly emit a whole spectrum of light waves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ffffff"/>
              </a:buClr>
              <a:buFont typeface="Lato"/>
              <a:buChar char="-"/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This curve can be thought of as “at some wavelength, how intense is our light?”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ffffff"/>
              </a:buClr>
              <a:buFont typeface="Lato"/>
              <a:buChar char="-"/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Ok so uh… how do we figure out what color this is??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9" name="Google Shape;251;p26"/>
          <p:cNvCxnSpPr/>
          <p:nvPr/>
        </p:nvCxnSpPr>
        <p:spPr>
          <a:xfrm flipH="1">
            <a:off x="2198160" y="1994760"/>
            <a:ext cx="448920" cy="326520"/>
          </a:xfrm>
          <a:prstGeom prst="straightConnector1">
            <a:avLst/>
          </a:prstGeom>
          <a:ln w="9525">
            <a:solidFill>
              <a:srgbClr val="1b212c"/>
            </a:solidFill>
            <a:round/>
            <a:tailEnd len="med" type="stealth" w="med"/>
          </a:ln>
        </p:spPr>
      </p:cxnSp>
      <p:sp>
        <p:nvSpPr>
          <p:cNvPr id="180" name="Google Shape;252;p26"/>
          <p:cNvSpPr/>
          <p:nvPr/>
        </p:nvSpPr>
        <p:spPr>
          <a:xfrm>
            <a:off x="2585880" y="1725120"/>
            <a:ext cx="52200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1"/>
                </a:solidFill>
                <a:latin typeface="Lato"/>
                <a:ea typeface="Lato"/>
              </a:rPr>
              <a:t>S(𝜆)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C49914-5D36-4277-8347-B58A53B355DB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Color Matching - INFINITE WAVELENGTHS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259;p27"/>
          <p:cNvSpPr/>
          <p:nvPr/>
        </p:nvSpPr>
        <p:spPr>
          <a:xfrm>
            <a:off x="1293480" y="1372320"/>
            <a:ext cx="3106800" cy="176688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Google Shape;260;p27" descr=""/>
          <p:cNvPicPr/>
          <p:nvPr/>
        </p:nvPicPr>
        <p:blipFill>
          <a:blip r:embed="rId1"/>
          <a:stretch/>
        </p:blipFill>
        <p:spPr>
          <a:xfrm>
            <a:off x="1278360" y="1307880"/>
            <a:ext cx="3106800" cy="1887840"/>
          </a:xfrm>
          <a:prstGeom prst="rect">
            <a:avLst/>
          </a:prstGeom>
          <a:ln w="0">
            <a:noFill/>
          </a:ln>
        </p:spPr>
      </p:pic>
      <p:sp>
        <p:nvSpPr>
          <p:cNvPr id="185" name="Google Shape;261;p27"/>
          <p:cNvSpPr/>
          <p:nvPr/>
        </p:nvSpPr>
        <p:spPr>
          <a:xfrm>
            <a:off x="1589040" y="1765800"/>
            <a:ext cx="2652480" cy="1105560"/>
          </a:xfrm>
          <a:custGeom>
            <a:avLst/>
            <a:gdLst>
              <a:gd name="textAreaLeft" fmla="*/ 0 w 2652480"/>
              <a:gd name="textAreaRight" fmla="*/ 2653200 w 2652480"/>
              <a:gd name="textAreaTop" fmla="*/ 0 h 1105560"/>
              <a:gd name="textAreaBottom" fmla="*/ 1106280 h 1105560"/>
            </a:gdLst>
            <a:ahLst/>
            <a:rect l="textAreaLeft" t="textAreaTop" r="textAreaRight" b="textAreaBottom"/>
            <a:pathLst>
              <a:path w="106127" h="44244">
                <a:moveTo>
                  <a:pt x="0" y="44244"/>
                </a:moveTo>
                <a:cubicBezTo>
                  <a:pt x="1312" y="43249"/>
                  <a:pt x="6016" y="41666"/>
                  <a:pt x="7871" y="38273"/>
                </a:cubicBezTo>
                <a:cubicBezTo>
                  <a:pt x="9726" y="34880"/>
                  <a:pt x="10359" y="29768"/>
                  <a:pt x="11128" y="23887"/>
                </a:cubicBezTo>
                <a:cubicBezTo>
                  <a:pt x="11897" y="18006"/>
                  <a:pt x="11807" y="6788"/>
                  <a:pt x="12485" y="2988"/>
                </a:cubicBezTo>
                <a:cubicBezTo>
                  <a:pt x="13164" y="-812"/>
                  <a:pt x="14294" y="-314"/>
                  <a:pt x="15199" y="1088"/>
                </a:cubicBezTo>
                <a:cubicBezTo>
                  <a:pt x="16104" y="2490"/>
                  <a:pt x="16240" y="6697"/>
                  <a:pt x="17914" y="11402"/>
                </a:cubicBezTo>
                <a:cubicBezTo>
                  <a:pt x="19588" y="16107"/>
                  <a:pt x="21668" y="25561"/>
                  <a:pt x="25242" y="29316"/>
                </a:cubicBezTo>
                <a:cubicBezTo>
                  <a:pt x="28816" y="33071"/>
                  <a:pt x="34606" y="34111"/>
                  <a:pt x="39356" y="33930"/>
                </a:cubicBezTo>
                <a:cubicBezTo>
                  <a:pt x="44106" y="33749"/>
                  <a:pt x="48811" y="30673"/>
                  <a:pt x="53742" y="28230"/>
                </a:cubicBezTo>
                <a:cubicBezTo>
                  <a:pt x="58673" y="25787"/>
                  <a:pt x="64192" y="20675"/>
                  <a:pt x="68942" y="19273"/>
                </a:cubicBezTo>
                <a:cubicBezTo>
                  <a:pt x="73692" y="17871"/>
                  <a:pt x="78984" y="18549"/>
                  <a:pt x="82241" y="19816"/>
                </a:cubicBezTo>
                <a:cubicBezTo>
                  <a:pt x="85498" y="21083"/>
                  <a:pt x="86539" y="24068"/>
                  <a:pt x="88484" y="26873"/>
                </a:cubicBezTo>
                <a:cubicBezTo>
                  <a:pt x="90429" y="29678"/>
                  <a:pt x="92194" y="34292"/>
                  <a:pt x="93913" y="36644"/>
                </a:cubicBezTo>
                <a:cubicBezTo>
                  <a:pt x="95632" y="38996"/>
                  <a:pt x="96762" y="39856"/>
                  <a:pt x="98798" y="40987"/>
                </a:cubicBezTo>
                <a:cubicBezTo>
                  <a:pt x="100834" y="42118"/>
                  <a:pt x="104906" y="43023"/>
                  <a:pt x="106127" y="43430"/>
                </a:cubicBezTo>
              </a:path>
            </a:pathLst>
          </a:custGeom>
          <a:solidFill>
            <a:srgbClr val="656464">
              <a:alpha val="37000"/>
            </a:srgbClr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262;p27"/>
          <p:cNvSpPr/>
          <p:nvPr/>
        </p:nvSpPr>
        <p:spPr>
          <a:xfrm>
            <a:off x="6324120" y="2999160"/>
            <a:ext cx="283572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7" name="Google Shape;263;p27" descr=""/>
          <p:cNvPicPr/>
          <p:nvPr/>
        </p:nvPicPr>
        <p:blipFill>
          <a:blip r:embed="rId2"/>
          <a:srcRect l="0" t="-1930" r="0" b="1930"/>
          <a:stretch/>
        </p:blipFill>
        <p:spPr>
          <a:xfrm>
            <a:off x="4572000" y="1270080"/>
            <a:ext cx="1995840" cy="2056680"/>
          </a:xfrm>
          <a:prstGeom prst="rect">
            <a:avLst/>
          </a:prstGeom>
          <a:ln w="0">
            <a:noFill/>
          </a:ln>
        </p:spPr>
      </p:pic>
      <p:sp>
        <p:nvSpPr>
          <p:cNvPr id="188" name="Google Shape;264;p27"/>
          <p:cNvSpPr/>
          <p:nvPr/>
        </p:nvSpPr>
        <p:spPr>
          <a:xfrm>
            <a:off x="4844880" y="3327480"/>
            <a:ext cx="153936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2"/>
                </a:solidFill>
                <a:latin typeface="Lato"/>
                <a:ea typeface="Lato"/>
              </a:rPr>
              <a:t>Infinite case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Google Shape;265;p27"/>
          <p:cNvSpPr/>
          <p:nvPr/>
        </p:nvSpPr>
        <p:spPr>
          <a:xfrm>
            <a:off x="6739920" y="3327480"/>
            <a:ext cx="199584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2"/>
                </a:solidFill>
                <a:latin typeface="Lato"/>
                <a:ea typeface="Lato"/>
              </a:rPr>
              <a:t>discrete case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0" name="Google Shape;266;p27"/>
          <p:cNvCxnSpPr/>
          <p:nvPr/>
        </p:nvCxnSpPr>
        <p:spPr>
          <a:xfrm flipH="1">
            <a:off x="2198160" y="1994760"/>
            <a:ext cx="448920" cy="326520"/>
          </a:xfrm>
          <a:prstGeom prst="straightConnector1">
            <a:avLst/>
          </a:prstGeom>
          <a:ln w="9525">
            <a:solidFill>
              <a:srgbClr val="1b212c"/>
            </a:solidFill>
            <a:round/>
            <a:tailEnd len="med" type="stealth" w="med"/>
          </a:ln>
        </p:spPr>
      </p:cxnSp>
      <p:sp>
        <p:nvSpPr>
          <p:cNvPr id="191" name="Google Shape;267;p27"/>
          <p:cNvSpPr/>
          <p:nvPr/>
        </p:nvSpPr>
        <p:spPr>
          <a:xfrm>
            <a:off x="2585880" y="1725120"/>
            <a:ext cx="52200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1"/>
                </a:solidFill>
                <a:latin typeface="Lato"/>
                <a:ea typeface="Lato"/>
              </a:rPr>
              <a:t>S(𝜆)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Google Shape;268;p27"/>
          <p:cNvSpPr/>
          <p:nvPr/>
        </p:nvSpPr>
        <p:spPr>
          <a:xfrm>
            <a:off x="2286000" y="3712680"/>
            <a:ext cx="4571640" cy="11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R is how “red” our spectral power distribution 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G is how “green” our spectral power distribution 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B is how “blue” our spectral power distribution 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0FDE31-D426-4B3B-BDCB-1D4ABA80FB78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94" name="Google Shape;270;p27" descr=""/>
          <p:cNvPicPr/>
          <p:nvPr/>
        </p:nvPicPr>
        <p:blipFill>
          <a:blip r:embed="rId3"/>
          <a:stretch/>
        </p:blipFill>
        <p:spPr>
          <a:xfrm>
            <a:off x="6665760" y="1307880"/>
            <a:ext cx="1950120" cy="199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275;p28"/>
          <p:cNvSpPr/>
          <p:nvPr/>
        </p:nvSpPr>
        <p:spPr>
          <a:xfrm>
            <a:off x="5729760" y="1859400"/>
            <a:ext cx="1946880" cy="17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9600" spc="-1" strike="noStrike">
                <a:solidFill>
                  <a:schemeClr val="lt1"/>
                </a:solidFill>
                <a:latin typeface="Lato"/>
                <a:ea typeface="Lato"/>
              </a:rPr>
              <a:t>?</a:t>
            </a:r>
            <a:endParaRPr b="0" lang="en-US" sz="9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Color Matching - INFINITE WAVELENGTHS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Google Shape;277;p28"/>
          <p:cNvSpPr/>
          <p:nvPr/>
        </p:nvSpPr>
        <p:spPr>
          <a:xfrm>
            <a:off x="1312560" y="1859400"/>
            <a:ext cx="3106800" cy="176688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Google Shape;278;p28" descr=""/>
          <p:cNvPicPr/>
          <p:nvPr/>
        </p:nvPicPr>
        <p:blipFill>
          <a:blip r:embed="rId1"/>
          <a:stretch/>
        </p:blipFill>
        <p:spPr>
          <a:xfrm>
            <a:off x="1297440" y="1794960"/>
            <a:ext cx="3106800" cy="1887840"/>
          </a:xfrm>
          <a:prstGeom prst="rect">
            <a:avLst/>
          </a:prstGeom>
          <a:ln w="0">
            <a:noFill/>
          </a:ln>
        </p:spPr>
      </p:pic>
      <p:cxnSp>
        <p:nvCxnSpPr>
          <p:cNvPr id="199" name="Google Shape;279;p28"/>
          <p:cNvCxnSpPr/>
          <p:nvPr/>
        </p:nvCxnSpPr>
        <p:spPr>
          <a:xfrm>
            <a:off x="4607280" y="2739240"/>
            <a:ext cx="597960" cy="720"/>
          </a:xfrm>
          <a:prstGeom prst="straightConnector1">
            <a:avLst/>
          </a:prstGeom>
          <a:ln w="9525">
            <a:solidFill>
              <a:srgbClr val="d9d9d9"/>
            </a:solidFill>
            <a:round/>
            <a:tailEnd len="med" type="triangle" w="med"/>
          </a:ln>
        </p:spPr>
      </p:cxnSp>
      <p:sp>
        <p:nvSpPr>
          <p:cNvPr id="200" name="Google Shape;280;p28"/>
          <p:cNvSpPr/>
          <p:nvPr/>
        </p:nvSpPr>
        <p:spPr>
          <a:xfrm>
            <a:off x="5862600" y="1902600"/>
            <a:ext cx="1681200" cy="1681200"/>
          </a:xfrm>
          <a:prstGeom prst="ellipse">
            <a:avLst/>
          </a:prstGeom>
          <a:solidFill>
            <a:srgbClr val="9a8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B8B2DA-2CBF-4083-BB2A-9409591CDB5E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Google Shape;282;p28"/>
          <p:cNvSpPr/>
          <p:nvPr/>
        </p:nvSpPr>
        <p:spPr>
          <a:xfrm>
            <a:off x="1575360" y="2240640"/>
            <a:ext cx="2652480" cy="1105560"/>
          </a:xfrm>
          <a:custGeom>
            <a:avLst/>
            <a:gdLst>
              <a:gd name="textAreaLeft" fmla="*/ 0 w 2652480"/>
              <a:gd name="textAreaRight" fmla="*/ 2653200 w 2652480"/>
              <a:gd name="textAreaTop" fmla="*/ 0 h 1105560"/>
              <a:gd name="textAreaBottom" fmla="*/ 1106280 h 1105560"/>
            </a:gdLst>
            <a:ahLst/>
            <a:rect l="textAreaLeft" t="textAreaTop" r="textAreaRight" b="textAreaBottom"/>
            <a:pathLst>
              <a:path w="106127" h="44244">
                <a:moveTo>
                  <a:pt x="0" y="44244"/>
                </a:moveTo>
                <a:cubicBezTo>
                  <a:pt x="1312" y="43249"/>
                  <a:pt x="6016" y="41666"/>
                  <a:pt x="7871" y="38273"/>
                </a:cubicBezTo>
                <a:cubicBezTo>
                  <a:pt x="9726" y="34880"/>
                  <a:pt x="10359" y="29768"/>
                  <a:pt x="11128" y="23887"/>
                </a:cubicBezTo>
                <a:cubicBezTo>
                  <a:pt x="11897" y="18006"/>
                  <a:pt x="11807" y="6788"/>
                  <a:pt x="12485" y="2988"/>
                </a:cubicBezTo>
                <a:cubicBezTo>
                  <a:pt x="13164" y="-812"/>
                  <a:pt x="14294" y="-314"/>
                  <a:pt x="15199" y="1088"/>
                </a:cubicBezTo>
                <a:cubicBezTo>
                  <a:pt x="16104" y="2490"/>
                  <a:pt x="16240" y="6697"/>
                  <a:pt x="17914" y="11402"/>
                </a:cubicBezTo>
                <a:cubicBezTo>
                  <a:pt x="19588" y="16107"/>
                  <a:pt x="21668" y="25561"/>
                  <a:pt x="25242" y="29316"/>
                </a:cubicBezTo>
                <a:cubicBezTo>
                  <a:pt x="28816" y="33071"/>
                  <a:pt x="34606" y="34111"/>
                  <a:pt x="39356" y="33930"/>
                </a:cubicBezTo>
                <a:cubicBezTo>
                  <a:pt x="44106" y="33749"/>
                  <a:pt x="48811" y="30673"/>
                  <a:pt x="53742" y="28230"/>
                </a:cubicBezTo>
                <a:cubicBezTo>
                  <a:pt x="58673" y="25787"/>
                  <a:pt x="64192" y="20675"/>
                  <a:pt x="68942" y="19273"/>
                </a:cubicBezTo>
                <a:cubicBezTo>
                  <a:pt x="73692" y="17871"/>
                  <a:pt x="78984" y="18549"/>
                  <a:pt x="82241" y="19816"/>
                </a:cubicBezTo>
                <a:cubicBezTo>
                  <a:pt x="85498" y="21083"/>
                  <a:pt x="86539" y="24068"/>
                  <a:pt x="88484" y="26873"/>
                </a:cubicBezTo>
                <a:cubicBezTo>
                  <a:pt x="90429" y="29678"/>
                  <a:pt x="92194" y="34292"/>
                  <a:pt x="93913" y="36644"/>
                </a:cubicBezTo>
                <a:cubicBezTo>
                  <a:pt x="95632" y="38996"/>
                  <a:pt x="96762" y="39856"/>
                  <a:pt x="98798" y="40987"/>
                </a:cubicBezTo>
                <a:cubicBezTo>
                  <a:pt x="100834" y="42118"/>
                  <a:pt x="104906" y="43023"/>
                  <a:pt x="106127" y="43430"/>
                </a:cubicBezTo>
              </a:path>
            </a:pathLst>
          </a:custGeom>
          <a:solidFill>
            <a:srgbClr val="656464">
              <a:alpha val="37000"/>
            </a:srgbClr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3" name="Google Shape;283;p28"/>
          <p:cNvCxnSpPr/>
          <p:nvPr/>
        </p:nvCxnSpPr>
        <p:spPr>
          <a:xfrm flipH="1">
            <a:off x="2184840" y="2469600"/>
            <a:ext cx="448560" cy="326520"/>
          </a:xfrm>
          <a:prstGeom prst="straightConnector1">
            <a:avLst/>
          </a:prstGeom>
          <a:ln w="9525">
            <a:solidFill>
              <a:srgbClr val="1b212c"/>
            </a:solidFill>
            <a:round/>
            <a:tailEnd len="med" type="stealth" w="med"/>
          </a:ln>
        </p:spPr>
      </p:cxnSp>
      <p:sp>
        <p:nvSpPr>
          <p:cNvPr id="204" name="Google Shape;284;p28"/>
          <p:cNvSpPr/>
          <p:nvPr/>
        </p:nvSpPr>
        <p:spPr>
          <a:xfrm>
            <a:off x="2572200" y="2199960"/>
            <a:ext cx="52200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1"/>
                </a:solidFill>
                <a:latin typeface="Lato"/>
                <a:ea typeface="Lato"/>
              </a:rPr>
              <a:t>S(𝜆)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" dur="indefinite" restart="never" nodeType="tmRoot">
          <p:childTnLst>
            <p:seq>
              <p:cTn id="23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Computers and Color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DA14C1-EF34-4B2E-B031-8F1B5ED95A76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Pixels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8" name="Google Shape;296;p30" descr=""/>
          <p:cNvPicPr/>
          <p:nvPr/>
        </p:nvPicPr>
        <p:blipFill>
          <a:blip r:embed="rId1"/>
          <a:stretch/>
        </p:blipFill>
        <p:spPr>
          <a:xfrm>
            <a:off x="3753720" y="1500840"/>
            <a:ext cx="4385160" cy="2140920"/>
          </a:xfrm>
          <a:prstGeom prst="rect">
            <a:avLst/>
          </a:prstGeom>
          <a:ln w="0">
            <a:noFill/>
          </a:ln>
        </p:spPr>
      </p:pic>
      <p:pic>
        <p:nvPicPr>
          <p:cNvPr id="209" name="Google Shape;297;p30" descr=""/>
          <p:cNvPicPr/>
          <p:nvPr/>
        </p:nvPicPr>
        <p:blipFill>
          <a:blip r:embed="rId2"/>
          <a:srcRect l="10426" t="0" r="29852" b="0"/>
          <a:stretch/>
        </p:blipFill>
        <p:spPr>
          <a:xfrm>
            <a:off x="1221480" y="1500840"/>
            <a:ext cx="2272320" cy="2140920"/>
          </a:xfrm>
          <a:prstGeom prst="rect">
            <a:avLst/>
          </a:prstGeom>
          <a:ln w="0">
            <a:noFill/>
          </a:ln>
        </p:spPr>
      </p:pic>
      <p:sp>
        <p:nvSpPr>
          <p:cNvPr id="210" name="Google Shape;298;p30"/>
          <p:cNvSpPr/>
          <p:nvPr/>
        </p:nvSpPr>
        <p:spPr>
          <a:xfrm>
            <a:off x="2741400" y="2422440"/>
            <a:ext cx="358920" cy="304560"/>
          </a:xfrm>
          <a:prstGeom prst="rect">
            <a:avLst/>
          </a:prstGeom>
          <a:noFill/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1" name="Google Shape;299;p30"/>
          <p:cNvCxnSpPr>
            <a:stCxn id="210" idx="2"/>
          </p:cNvCxnSpPr>
          <p:nvPr/>
        </p:nvCxnSpPr>
        <p:spPr>
          <a:xfrm flipH="1">
            <a:off x="2347920" y="2727360"/>
            <a:ext cx="573840" cy="9986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212" name="Google Shape;300;p30"/>
          <p:cNvSpPr/>
          <p:nvPr/>
        </p:nvSpPr>
        <p:spPr>
          <a:xfrm>
            <a:off x="1974600" y="3576240"/>
            <a:ext cx="76608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Lato"/>
                <a:ea typeface="Lato"/>
              </a:rPr>
              <a:t>1 pixel!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Google Shape;301;p30"/>
          <p:cNvSpPr/>
          <p:nvPr/>
        </p:nvSpPr>
        <p:spPr>
          <a:xfrm>
            <a:off x="3772800" y="3670920"/>
            <a:ext cx="4335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Lato"/>
                <a:ea typeface="Lato"/>
              </a:rPr>
              <a:t>Example of pixels projecting various colors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Google Shape;302;p30"/>
          <p:cNvSpPr/>
          <p:nvPr/>
        </p:nvSpPr>
        <p:spPr>
          <a:xfrm>
            <a:off x="1221480" y="3949200"/>
            <a:ext cx="6917760" cy="7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Every color on a screen is some combination of red, green, and blue. Pixel colors are represented as (r, g, b)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72411F-EA20-4675-BF50-7DE48742250E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Redshifting an Image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83E8E6-E6A3-4FC4-8393-C57EDFE6C503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What We Want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B2BAA9-A494-483B-ABCC-99FDF90E0E7A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2870280" y="4169880"/>
            <a:ext cx="3402360" cy="83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Lato"/>
                <a:ea typeface="Lato"/>
              </a:rPr>
              <a:t>Spectral Power Distribution before redshift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2870280" y="4444200"/>
            <a:ext cx="3402360" cy="83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Lato"/>
                <a:ea typeface="Lato"/>
              </a:rPr>
              <a:t>Spectral Power Distribution after redshift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Google Shape;318;p32"/>
          <p:cNvSpPr/>
          <p:nvPr/>
        </p:nvSpPr>
        <p:spPr>
          <a:xfrm>
            <a:off x="2310480" y="1405800"/>
            <a:ext cx="4753080" cy="267804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Google Shape;319;p32" descr=""/>
          <p:cNvPicPr/>
          <p:nvPr/>
        </p:nvPicPr>
        <p:blipFill>
          <a:blip r:embed="rId1"/>
          <a:stretch/>
        </p:blipFill>
        <p:spPr>
          <a:xfrm>
            <a:off x="2287080" y="1307880"/>
            <a:ext cx="4753080" cy="2861280"/>
          </a:xfrm>
          <a:prstGeom prst="rect">
            <a:avLst/>
          </a:prstGeom>
          <a:ln w="0">
            <a:noFill/>
          </a:ln>
        </p:spPr>
      </p:pic>
      <p:sp>
        <p:nvSpPr>
          <p:cNvPr id="224" name="Google Shape;320;p32"/>
          <p:cNvSpPr/>
          <p:nvPr/>
        </p:nvSpPr>
        <p:spPr>
          <a:xfrm>
            <a:off x="2762640" y="2001600"/>
            <a:ext cx="4058280" cy="1675440"/>
          </a:xfrm>
          <a:custGeom>
            <a:avLst/>
            <a:gdLst>
              <a:gd name="textAreaLeft" fmla="*/ 0 w 4058280"/>
              <a:gd name="textAreaRight" fmla="*/ 4059000 w 4058280"/>
              <a:gd name="textAreaTop" fmla="*/ 0 h 1675440"/>
              <a:gd name="textAreaBottom" fmla="*/ 1676160 h 1675440"/>
            </a:gdLst>
            <a:ahLst/>
            <a:rect l="textAreaLeft" t="textAreaTop" r="textAreaRight" b="textAreaBottom"/>
            <a:pathLst>
              <a:path w="106127" h="44244">
                <a:moveTo>
                  <a:pt x="0" y="44244"/>
                </a:moveTo>
                <a:cubicBezTo>
                  <a:pt x="1312" y="43249"/>
                  <a:pt x="6016" y="41666"/>
                  <a:pt x="7871" y="38273"/>
                </a:cubicBezTo>
                <a:cubicBezTo>
                  <a:pt x="9726" y="34880"/>
                  <a:pt x="10359" y="29768"/>
                  <a:pt x="11128" y="23887"/>
                </a:cubicBezTo>
                <a:cubicBezTo>
                  <a:pt x="11897" y="18006"/>
                  <a:pt x="11807" y="6788"/>
                  <a:pt x="12485" y="2988"/>
                </a:cubicBezTo>
                <a:cubicBezTo>
                  <a:pt x="13164" y="-812"/>
                  <a:pt x="14294" y="-314"/>
                  <a:pt x="15199" y="1088"/>
                </a:cubicBezTo>
                <a:cubicBezTo>
                  <a:pt x="16104" y="2490"/>
                  <a:pt x="16240" y="6697"/>
                  <a:pt x="17914" y="11402"/>
                </a:cubicBezTo>
                <a:cubicBezTo>
                  <a:pt x="19588" y="16107"/>
                  <a:pt x="21668" y="25561"/>
                  <a:pt x="25242" y="29316"/>
                </a:cubicBezTo>
                <a:cubicBezTo>
                  <a:pt x="28816" y="33071"/>
                  <a:pt x="34606" y="34111"/>
                  <a:pt x="39356" y="33930"/>
                </a:cubicBezTo>
                <a:cubicBezTo>
                  <a:pt x="44106" y="33749"/>
                  <a:pt x="48811" y="30673"/>
                  <a:pt x="53742" y="28230"/>
                </a:cubicBezTo>
                <a:cubicBezTo>
                  <a:pt x="58673" y="25787"/>
                  <a:pt x="64192" y="20675"/>
                  <a:pt x="68942" y="19273"/>
                </a:cubicBezTo>
                <a:cubicBezTo>
                  <a:pt x="73692" y="17871"/>
                  <a:pt x="78984" y="18549"/>
                  <a:pt x="82241" y="19816"/>
                </a:cubicBezTo>
                <a:cubicBezTo>
                  <a:pt x="85498" y="21083"/>
                  <a:pt x="86539" y="24068"/>
                  <a:pt x="88484" y="26873"/>
                </a:cubicBezTo>
                <a:cubicBezTo>
                  <a:pt x="90429" y="29678"/>
                  <a:pt x="92194" y="34292"/>
                  <a:pt x="93913" y="36644"/>
                </a:cubicBezTo>
                <a:cubicBezTo>
                  <a:pt x="95632" y="38996"/>
                  <a:pt x="96762" y="39856"/>
                  <a:pt x="98798" y="40987"/>
                </a:cubicBezTo>
                <a:cubicBezTo>
                  <a:pt x="100834" y="42118"/>
                  <a:pt x="104906" y="43023"/>
                  <a:pt x="106127" y="43430"/>
                </a:cubicBezTo>
              </a:path>
            </a:pathLst>
          </a:custGeom>
          <a:solidFill>
            <a:srgbClr val="656464">
              <a:alpha val="37000"/>
            </a:srgbClr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5" name="Google Shape;321;p32"/>
          <p:cNvCxnSpPr/>
          <p:nvPr/>
        </p:nvCxnSpPr>
        <p:spPr>
          <a:xfrm flipH="1">
            <a:off x="3694680" y="2349000"/>
            <a:ext cx="686160" cy="494280"/>
          </a:xfrm>
          <a:prstGeom prst="straightConnector1">
            <a:avLst/>
          </a:prstGeom>
          <a:ln w="9525">
            <a:solidFill>
              <a:srgbClr val="1b212c"/>
            </a:solidFill>
            <a:round/>
            <a:tailEnd len="med" type="stealth" w="med"/>
          </a:ln>
        </p:spPr>
      </p:cxnSp>
      <p:sp>
        <p:nvSpPr>
          <p:cNvPr id="226" name="Google Shape;322;p32"/>
          <p:cNvSpPr/>
          <p:nvPr/>
        </p:nvSpPr>
        <p:spPr>
          <a:xfrm>
            <a:off x="4287600" y="1940040"/>
            <a:ext cx="7988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1"/>
                </a:solidFill>
                <a:latin typeface="Lato"/>
                <a:ea typeface="Lato"/>
              </a:rPr>
              <a:t>S(𝜆)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Google Shape;323;p32"/>
          <p:cNvSpPr/>
          <p:nvPr/>
        </p:nvSpPr>
        <p:spPr>
          <a:xfrm>
            <a:off x="5012640" y="1940040"/>
            <a:ext cx="96264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1"/>
                </a:solidFill>
                <a:latin typeface="Lato"/>
                <a:ea typeface="Lato"/>
              </a:rPr>
              <a:t>S(𝜆+Δ𝜆)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Google Shape;324;p32"/>
          <p:cNvSpPr/>
          <p:nvPr/>
        </p:nvSpPr>
        <p:spPr>
          <a:xfrm>
            <a:off x="3216960" y="2001600"/>
            <a:ext cx="4058280" cy="1675440"/>
          </a:xfrm>
          <a:custGeom>
            <a:avLst/>
            <a:gdLst>
              <a:gd name="textAreaLeft" fmla="*/ 0 w 4058280"/>
              <a:gd name="textAreaRight" fmla="*/ 4059000 w 4058280"/>
              <a:gd name="textAreaTop" fmla="*/ 0 h 1675440"/>
              <a:gd name="textAreaBottom" fmla="*/ 1676160 h 1675440"/>
            </a:gdLst>
            <a:ahLst/>
            <a:rect l="textAreaLeft" t="textAreaTop" r="textAreaRight" b="textAreaBottom"/>
            <a:pathLst>
              <a:path w="106127" h="44244">
                <a:moveTo>
                  <a:pt x="0" y="44244"/>
                </a:moveTo>
                <a:cubicBezTo>
                  <a:pt x="1312" y="43249"/>
                  <a:pt x="6016" y="41666"/>
                  <a:pt x="7871" y="38273"/>
                </a:cubicBezTo>
                <a:cubicBezTo>
                  <a:pt x="9726" y="34880"/>
                  <a:pt x="10359" y="29768"/>
                  <a:pt x="11128" y="23887"/>
                </a:cubicBezTo>
                <a:cubicBezTo>
                  <a:pt x="11897" y="18006"/>
                  <a:pt x="11807" y="6788"/>
                  <a:pt x="12485" y="2988"/>
                </a:cubicBezTo>
                <a:cubicBezTo>
                  <a:pt x="13164" y="-812"/>
                  <a:pt x="14294" y="-314"/>
                  <a:pt x="15199" y="1088"/>
                </a:cubicBezTo>
                <a:cubicBezTo>
                  <a:pt x="16104" y="2490"/>
                  <a:pt x="16240" y="6697"/>
                  <a:pt x="17914" y="11402"/>
                </a:cubicBezTo>
                <a:cubicBezTo>
                  <a:pt x="19588" y="16107"/>
                  <a:pt x="21668" y="25561"/>
                  <a:pt x="25242" y="29316"/>
                </a:cubicBezTo>
                <a:cubicBezTo>
                  <a:pt x="28816" y="33071"/>
                  <a:pt x="34606" y="34111"/>
                  <a:pt x="39356" y="33930"/>
                </a:cubicBezTo>
                <a:cubicBezTo>
                  <a:pt x="44106" y="33749"/>
                  <a:pt x="48811" y="30673"/>
                  <a:pt x="53742" y="28230"/>
                </a:cubicBezTo>
                <a:cubicBezTo>
                  <a:pt x="58673" y="25787"/>
                  <a:pt x="64192" y="20675"/>
                  <a:pt x="68942" y="19273"/>
                </a:cubicBezTo>
                <a:cubicBezTo>
                  <a:pt x="73692" y="17871"/>
                  <a:pt x="78984" y="18549"/>
                  <a:pt x="82241" y="19816"/>
                </a:cubicBezTo>
                <a:cubicBezTo>
                  <a:pt x="85498" y="21083"/>
                  <a:pt x="86539" y="24068"/>
                  <a:pt x="88484" y="26873"/>
                </a:cubicBezTo>
                <a:cubicBezTo>
                  <a:pt x="90429" y="29678"/>
                  <a:pt x="92194" y="34292"/>
                  <a:pt x="93913" y="36644"/>
                </a:cubicBezTo>
                <a:cubicBezTo>
                  <a:pt x="95632" y="38996"/>
                  <a:pt x="96762" y="39856"/>
                  <a:pt x="98798" y="40987"/>
                </a:cubicBezTo>
                <a:cubicBezTo>
                  <a:pt x="100834" y="42118"/>
                  <a:pt x="104906" y="43023"/>
                  <a:pt x="106127" y="43430"/>
                </a:cubicBezTo>
              </a:path>
            </a:pathLst>
          </a:custGeom>
          <a:solidFill>
            <a:srgbClr val="656464">
              <a:alpha val="37000"/>
            </a:srgbClr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9" name="Google Shape;325;p32"/>
          <p:cNvCxnSpPr/>
          <p:nvPr/>
        </p:nvCxnSpPr>
        <p:spPr>
          <a:xfrm flipH="1">
            <a:off x="4134960" y="2275200"/>
            <a:ext cx="999360" cy="495720"/>
          </a:xfrm>
          <a:prstGeom prst="straightConnector1">
            <a:avLst/>
          </a:prstGeom>
          <a:ln w="9525">
            <a:solidFill>
              <a:srgbClr val="1b212c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4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7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0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3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Step 1 - Get Wavelengths from RGB Color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1297440" y="1307880"/>
            <a:ext cx="703836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marL="457200" indent="-311040">
              <a:lnSpc>
                <a:spcPct val="115000"/>
              </a:lnSpc>
              <a:buClr>
                <a:srgbClr val="ffffff"/>
              </a:buClr>
              <a:buFont typeface="Lato"/>
              <a:buChar char="-"/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We are given R, G, and B, how can we get the family of light waves?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ffffff"/>
              </a:buClr>
              <a:buFont typeface="Lato"/>
              <a:buChar char="-"/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There’s an infinite number of possible families we can choose from, so let’s choose the easiest to work with!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332;p33"/>
          <p:cNvSpPr/>
          <p:nvPr/>
        </p:nvSpPr>
        <p:spPr>
          <a:xfrm>
            <a:off x="2527560" y="2133000"/>
            <a:ext cx="4107960" cy="233640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Google Shape;333;p33" descr=""/>
          <p:cNvPicPr/>
          <p:nvPr/>
        </p:nvPicPr>
        <p:blipFill>
          <a:blip r:embed="rId1"/>
          <a:stretch/>
        </p:blipFill>
        <p:spPr>
          <a:xfrm>
            <a:off x="2507760" y="2047680"/>
            <a:ext cx="4107960" cy="2496600"/>
          </a:xfrm>
          <a:prstGeom prst="rect">
            <a:avLst/>
          </a:prstGeom>
          <a:ln w="0">
            <a:noFill/>
          </a:ln>
        </p:spPr>
      </p:pic>
      <p:cxnSp>
        <p:nvCxnSpPr>
          <p:cNvPr id="234" name="Google Shape;334;p33"/>
          <p:cNvCxnSpPr/>
          <p:nvPr/>
        </p:nvCxnSpPr>
        <p:spPr>
          <a:xfrm>
            <a:off x="4712760" y="3189240"/>
            <a:ext cx="720" cy="90288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</a:ln>
        </p:spPr>
      </p:cxnSp>
      <p:cxnSp>
        <p:nvCxnSpPr>
          <p:cNvPr id="235" name="Google Shape;335;p33"/>
          <p:cNvCxnSpPr/>
          <p:nvPr/>
        </p:nvCxnSpPr>
        <p:spPr>
          <a:xfrm>
            <a:off x="5116680" y="3141720"/>
            <a:ext cx="720" cy="90288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</a:ln>
        </p:spPr>
      </p:cxnSp>
      <p:cxnSp>
        <p:nvCxnSpPr>
          <p:cNvPr id="236" name="Google Shape;336;p33"/>
          <p:cNvCxnSpPr/>
          <p:nvPr/>
        </p:nvCxnSpPr>
        <p:spPr>
          <a:xfrm>
            <a:off x="3703680" y="2456280"/>
            <a:ext cx="720" cy="170928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</a:ln>
        </p:spPr>
      </p:cxnSp>
      <p:sp>
        <p:nvSpPr>
          <p:cNvPr id="237" name="Google Shape;337;p33"/>
          <p:cNvSpPr/>
          <p:nvPr/>
        </p:nvSpPr>
        <p:spPr>
          <a:xfrm>
            <a:off x="2517480" y="4575240"/>
            <a:ext cx="4107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Lato"/>
                <a:ea typeface="Lato"/>
              </a:rPr>
              <a:t>I’ve picked these 3 light waves as our family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184E70-320B-46A7-8A86-F59E1910C309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9" name="Google Shape;339;p33"/>
          <p:cNvSpPr/>
          <p:nvPr/>
        </p:nvSpPr>
        <p:spPr>
          <a:xfrm>
            <a:off x="3287880" y="2225520"/>
            <a:ext cx="1073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Lato"/>
                <a:ea typeface="Lato"/>
              </a:rPr>
              <a:t>Lb = (λb,Ib)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Google Shape;340;p33"/>
          <p:cNvSpPr/>
          <p:nvPr/>
        </p:nvSpPr>
        <p:spPr>
          <a:xfrm>
            <a:off x="4037040" y="2931120"/>
            <a:ext cx="8895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Lato"/>
                <a:ea typeface="Lato"/>
              </a:rPr>
              <a:t>Lg = (λg,Ig)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Google Shape;341;p33"/>
          <p:cNvSpPr/>
          <p:nvPr/>
        </p:nvSpPr>
        <p:spPr>
          <a:xfrm>
            <a:off x="5020200" y="2842920"/>
            <a:ext cx="8895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Lato"/>
                <a:ea typeface="Lato"/>
              </a:rPr>
              <a:t>Lr = (λr,Ir)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Step 2 - Get Light Wave Intensities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Google Shape;347;p34"/>
          <p:cNvSpPr/>
          <p:nvPr/>
        </p:nvSpPr>
        <p:spPr>
          <a:xfrm>
            <a:off x="4934160" y="2586240"/>
            <a:ext cx="3537360" cy="2012040"/>
          </a:xfrm>
          <a:prstGeom prst="rect">
            <a:avLst/>
          </a:prstGeom>
          <a:solidFill>
            <a:schemeClr val="dk2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Google Shape;348;p34" descr=""/>
          <p:cNvPicPr/>
          <p:nvPr/>
        </p:nvPicPr>
        <p:blipFill>
          <a:blip r:embed="rId1"/>
          <a:stretch/>
        </p:blipFill>
        <p:spPr>
          <a:xfrm>
            <a:off x="4916880" y="2512800"/>
            <a:ext cx="3537360" cy="2149560"/>
          </a:xfrm>
          <a:prstGeom prst="rect">
            <a:avLst/>
          </a:prstGeom>
          <a:ln w="0">
            <a:noFill/>
          </a:ln>
        </p:spPr>
      </p:pic>
      <p:cxnSp>
        <p:nvCxnSpPr>
          <p:cNvPr id="245" name="Google Shape;349;p34"/>
          <p:cNvCxnSpPr/>
          <p:nvPr/>
        </p:nvCxnSpPr>
        <p:spPr>
          <a:xfrm>
            <a:off x="6815880" y="3495600"/>
            <a:ext cx="720" cy="77796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</a:ln>
        </p:spPr>
      </p:cxnSp>
      <p:cxnSp>
        <p:nvCxnSpPr>
          <p:cNvPr id="246" name="Google Shape;350;p34"/>
          <p:cNvCxnSpPr/>
          <p:nvPr/>
        </p:nvCxnSpPr>
        <p:spPr>
          <a:xfrm>
            <a:off x="7163640" y="3454920"/>
            <a:ext cx="720" cy="77760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</a:ln>
        </p:spPr>
      </p:cxnSp>
      <p:cxnSp>
        <p:nvCxnSpPr>
          <p:cNvPr id="247" name="Google Shape;351;p34"/>
          <p:cNvCxnSpPr/>
          <p:nvPr/>
        </p:nvCxnSpPr>
        <p:spPr>
          <a:xfrm>
            <a:off x="5946840" y="2864520"/>
            <a:ext cx="720" cy="147240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</a:ln>
        </p:spPr>
      </p:cxnSp>
      <p:sp>
        <p:nvSpPr>
          <p:cNvPr id="248" name="PlaceHolder 2"/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CA5AE8-2C78-466F-A76B-78DEE1E20B8B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9" name="Google Shape;353;p34"/>
          <p:cNvSpPr/>
          <p:nvPr/>
        </p:nvSpPr>
        <p:spPr>
          <a:xfrm>
            <a:off x="1297440" y="1307880"/>
            <a:ext cx="703836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Let I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r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, I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g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, I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b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 be the intensities of our chosen light waves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Let λ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r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, λ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g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, λ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b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 be the wavelengths of our chosen light waves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0" name="Google Shape;354;p34" descr=""/>
          <p:cNvPicPr/>
          <p:nvPr/>
        </p:nvPicPr>
        <p:blipFill>
          <a:blip r:embed="rId2"/>
          <a:srcRect l="0" t="72477" r="0" b="0"/>
          <a:stretch/>
        </p:blipFill>
        <p:spPr>
          <a:xfrm>
            <a:off x="681840" y="4007160"/>
            <a:ext cx="3714840" cy="591120"/>
          </a:xfrm>
          <a:prstGeom prst="rect">
            <a:avLst/>
          </a:prstGeom>
          <a:ln w="0">
            <a:noFill/>
          </a:ln>
        </p:spPr>
      </p:pic>
      <p:pic>
        <p:nvPicPr>
          <p:cNvPr id="251" name="Google Shape;355;p34" descr=""/>
          <p:cNvPicPr/>
          <p:nvPr/>
        </p:nvPicPr>
        <p:blipFill>
          <a:blip r:embed="rId3"/>
          <a:srcRect l="0" t="36239" r="0" b="36239"/>
          <a:stretch/>
        </p:blipFill>
        <p:spPr>
          <a:xfrm>
            <a:off x="681840" y="3328920"/>
            <a:ext cx="3714840" cy="591120"/>
          </a:xfrm>
          <a:prstGeom prst="rect">
            <a:avLst/>
          </a:prstGeom>
          <a:ln w="0">
            <a:noFill/>
          </a:ln>
        </p:spPr>
      </p:pic>
      <p:pic>
        <p:nvPicPr>
          <p:cNvPr id="252" name="Google Shape;356;p34" descr=""/>
          <p:cNvPicPr/>
          <p:nvPr/>
        </p:nvPicPr>
        <p:blipFill>
          <a:blip r:embed="rId4"/>
          <a:srcRect l="0" t="672" r="0" b="71805"/>
          <a:stretch/>
        </p:blipFill>
        <p:spPr>
          <a:xfrm>
            <a:off x="681840" y="2586240"/>
            <a:ext cx="3714840" cy="591120"/>
          </a:xfrm>
          <a:prstGeom prst="rect">
            <a:avLst/>
          </a:prstGeom>
          <a:ln w="0">
            <a:noFill/>
          </a:ln>
        </p:spPr>
      </p:pic>
      <p:sp>
        <p:nvSpPr>
          <p:cNvPr id="253" name="Google Shape;357;p34"/>
          <p:cNvSpPr/>
          <p:nvPr/>
        </p:nvSpPr>
        <p:spPr>
          <a:xfrm>
            <a:off x="5466240" y="2631960"/>
            <a:ext cx="1073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Lato"/>
                <a:ea typeface="Lato"/>
              </a:rPr>
              <a:t>Lb = (λb,Ib)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Google Shape;358;p34"/>
          <p:cNvSpPr/>
          <p:nvPr/>
        </p:nvSpPr>
        <p:spPr>
          <a:xfrm>
            <a:off x="6240960" y="3263760"/>
            <a:ext cx="8895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Lato"/>
                <a:ea typeface="Lato"/>
              </a:rPr>
              <a:t>Lg = (λg,Ig)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Google Shape;359;p34"/>
          <p:cNvSpPr/>
          <p:nvPr/>
        </p:nvSpPr>
        <p:spPr>
          <a:xfrm>
            <a:off x="7021800" y="3178080"/>
            <a:ext cx="8895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Lato"/>
                <a:ea typeface="Lato"/>
              </a:rPr>
              <a:t>Lr = (λr,Ir)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Step 2 - Get Light Wave Intensities: Matrix Math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5249A7-422F-4679-8A1E-7B36E9F495B3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58" name="Google Shape;366;p35" descr=""/>
          <p:cNvPicPr/>
          <p:nvPr/>
        </p:nvPicPr>
        <p:blipFill>
          <a:blip r:embed="rId1"/>
          <a:srcRect l="0" t="0" r="1388" b="0"/>
          <a:stretch/>
        </p:blipFill>
        <p:spPr>
          <a:xfrm>
            <a:off x="2179800" y="1972080"/>
            <a:ext cx="4783320" cy="1273680"/>
          </a:xfrm>
          <a:prstGeom prst="rect">
            <a:avLst/>
          </a:prstGeom>
          <a:ln w="0">
            <a:noFill/>
          </a:ln>
        </p:spPr>
      </p:pic>
      <p:pic>
        <p:nvPicPr>
          <p:cNvPr id="259" name="Google Shape;367;p35" descr=""/>
          <p:cNvPicPr/>
          <p:nvPr/>
        </p:nvPicPr>
        <p:blipFill>
          <a:blip r:embed="rId2"/>
          <a:stretch/>
        </p:blipFill>
        <p:spPr>
          <a:xfrm>
            <a:off x="2161440" y="3388680"/>
            <a:ext cx="4820040" cy="1273680"/>
          </a:xfrm>
          <a:prstGeom prst="rect">
            <a:avLst/>
          </a:prstGeom>
          <a:ln w="0">
            <a:noFill/>
          </a:ln>
        </p:spPr>
      </p:pic>
      <p:sp>
        <p:nvSpPr>
          <p:cNvPr id="260" name="Google Shape;368;p35"/>
          <p:cNvSpPr/>
          <p:nvPr/>
        </p:nvSpPr>
        <p:spPr>
          <a:xfrm>
            <a:off x="1364040" y="1112760"/>
            <a:ext cx="6540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Hey this is a system of equations! We can solve this using a matrix!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Step 3 - Change The Wavelength!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02360" cy="29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1040">
              <a:lnSpc>
                <a:spcPct val="100000"/>
              </a:lnSpc>
              <a:buClr>
                <a:srgbClr val="ffffff"/>
              </a:buClr>
              <a:buFont typeface="Lato"/>
              <a:buChar char="-"/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λ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r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, λ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g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, λ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b 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are our light wavelengths.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ffffff"/>
              </a:buClr>
              <a:buFont typeface="Lato"/>
              <a:buChar char="-"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We’re redshifting this! So our wavelengths are gonna be offset by some value!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ffffff"/>
              </a:buClr>
              <a:buFont typeface="Lato"/>
              <a:buChar char="-"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Let Δλ be our offset.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ffffff"/>
              </a:buClr>
              <a:buFont typeface="Lato"/>
              <a:buChar char="-"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Our new light wavelengths are: (λ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r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+Δλ), (λ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g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+Δλ), (λ</a:t>
            </a:r>
            <a:r>
              <a:rPr b="0" lang="en" sz="1300" spc="-1" strike="noStrike" baseline="-25000">
                <a:solidFill>
                  <a:schemeClr val="lt1"/>
                </a:solidFill>
                <a:latin typeface="Lato"/>
                <a:ea typeface="Lato"/>
              </a:rPr>
              <a:t>b</a:t>
            </a: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+Δλ)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F158B4-5B86-49DF-8941-024B0597F9AA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64" name="Google Shape;376;p36" descr=""/>
          <p:cNvPicPr/>
          <p:nvPr/>
        </p:nvPicPr>
        <p:blipFill>
          <a:blip r:embed="rId1"/>
          <a:srcRect l="9744" t="3517" r="57820" b="2991"/>
          <a:stretch/>
        </p:blipFill>
        <p:spPr>
          <a:xfrm rot="5400000">
            <a:off x="5685120" y="824040"/>
            <a:ext cx="1899720" cy="3386160"/>
          </a:xfrm>
          <a:prstGeom prst="rect">
            <a:avLst/>
          </a:prstGeom>
          <a:ln w="0">
            <a:noFill/>
          </a:ln>
        </p:spPr>
      </p:pic>
      <p:sp>
        <p:nvSpPr>
          <p:cNvPr id="265" name="PlaceHolder 4"/>
          <p:cNvSpPr>
            <a:spLocks noGrp="1"/>
          </p:cNvSpPr>
          <p:nvPr>
            <p:ph/>
          </p:nvPr>
        </p:nvSpPr>
        <p:spPr>
          <a:xfrm>
            <a:off x="4933080" y="1567440"/>
            <a:ext cx="3402360" cy="29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2"/>
                </a:solidFill>
                <a:latin typeface="Lato"/>
                <a:ea typeface="Lato"/>
              </a:rPr>
              <a:t>Let Δλ be the offset we see in the image above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Step 4 - Make Our New Color!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We have everything we need to get our new colors!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0A86DE-CAEF-42C6-B3DE-13E4177C5CA9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69" name="Google Shape;385;p37" descr=""/>
          <p:cNvPicPr/>
          <p:nvPr/>
        </p:nvPicPr>
        <p:blipFill>
          <a:blip r:embed="rId1"/>
          <a:stretch/>
        </p:blipFill>
        <p:spPr>
          <a:xfrm>
            <a:off x="424080" y="2279520"/>
            <a:ext cx="8295120" cy="1486440"/>
          </a:xfrm>
          <a:prstGeom prst="rect">
            <a:avLst/>
          </a:prstGeom>
          <a:ln w="0">
            <a:noFill/>
          </a:ln>
        </p:spPr>
      </p:pic>
      <p:sp>
        <p:nvSpPr>
          <p:cNvPr id="270" name="PlaceHolder 4"/>
          <p:cNvSpPr>
            <a:spLocks noGrp="1"/>
          </p:cNvSpPr>
          <p:nvPr>
            <p:ph/>
          </p:nvPr>
        </p:nvSpPr>
        <p:spPr>
          <a:xfrm>
            <a:off x="1433520" y="3931920"/>
            <a:ext cx="703836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lt1"/>
                </a:solidFill>
                <a:latin typeface="Lato"/>
                <a:ea typeface="Lato"/>
              </a:rPr>
              <a:t>Tada! We have red shifted our color!!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Live Demo!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30F998-3A30-4C8E-A50D-FE980D020B2A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2026-10-14T23:36:31Z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